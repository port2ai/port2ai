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9fb1ada4044ebb" /><Relationship Type="http://schemas.openxmlformats.org/officeDocument/2006/relationships/extended-properties" Target="/docProps/app.xml" Id="Re481790797c043c5" /><Relationship Type="http://schemas.openxmlformats.org/officeDocument/2006/relationships/officeDocument" Target="/ppt/presentation.xml" Id="R1e07c93cecb346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ed64f83a304ea8"/>
  </p:sldMasterIdLst>
  <p:notesMasterIdLst>
    <p:notesMasterId xmlns:r="http://schemas.openxmlformats.org/officeDocument/2006/relationships" r:id="R648ad01169c646f4"/>
  </p:notesMasterIdLst>
  <p:sldIdLst>
    <p:sldId xmlns:r="http://schemas.openxmlformats.org/officeDocument/2006/relationships" id="256" r:id="Re15592bc57ff4647"/>
    <p:sldId xmlns:r="http://schemas.openxmlformats.org/officeDocument/2006/relationships" id="257" r:id="R416272a362f44891"/>
    <p:sldId xmlns:r="http://schemas.openxmlformats.org/officeDocument/2006/relationships" id="258" r:id="R399d07f109b149ff"/>
    <p:sldId xmlns:r="http://schemas.openxmlformats.org/officeDocument/2006/relationships" id="259" r:id="Rc1bc320abc714dfd"/>
    <p:sldId xmlns:r="http://schemas.openxmlformats.org/officeDocument/2006/relationships" id="260" r:id="R3940595767e34c32"/>
    <p:sldId xmlns:r="http://schemas.openxmlformats.org/officeDocument/2006/relationships" id="261" r:id="R8d8e2c4ff94642ca"/>
    <p:sldId xmlns:r="http://schemas.openxmlformats.org/officeDocument/2006/relationships" id="262" r:id="Re5aa4b6ba5934103"/>
    <p:sldId xmlns:r="http://schemas.openxmlformats.org/officeDocument/2006/relationships" id="263" r:id="R5e99bf8f00564bc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d64f83a304ea8" /><Relationship Type="http://schemas.openxmlformats.org/officeDocument/2006/relationships/theme" Target="/ppt/theme/theme1.xml" Id="R49a3e01adbb94bcd" /><Relationship Type="http://schemas.openxmlformats.org/officeDocument/2006/relationships/notesMaster" Target="/ppt/notesMasters/notesMaster1.xml" Id="R648ad01169c646f4" /><Relationship Type="http://schemas.openxmlformats.org/officeDocument/2006/relationships/presProps" Target="/ppt/presProps.xml" Id="R6fe2ed852a93431c" /><Relationship Type="http://schemas.openxmlformats.org/officeDocument/2006/relationships/viewProps" Target="/ppt/viewProps.xml" Id="R5763866a92aa4dd2" /><Relationship Type="http://schemas.openxmlformats.org/officeDocument/2006/relationships/tableStyles" Target="/ppt/tableStyles.xml" Id="R105fd7ad58484d67" /><Relationship Type="http://schemas.openxmlformats.org/officeDocument/2006/relationships/slide" Target="/ppt/slides/slide1.xml" Id="Re15592bc57ff4647" /><Relationship Type="http://schemas.openxmlformats.org/officeDocument/2006/relationships/slide" Target="/ppt/slides/slide2.xml" Id="R416272a362f44891" /><Relationship Type="http://schemas.openxmlformats.org/officeDocument/2006/relationships/slide" Target="/ppt/slides/slide3.xml" Id="R399d07f109b149ff" /><Relationship Type="http://schemas.openxmlformats.org/officeDocument/2006/relationships/slide" Target="/ppt/slides/slide4.xml" Id="Rc1bc320abc714dfd" /><Relationship Type="http://schemas.openxmlformats.org/officeDocument/2006/relationships/slide" Target="/ppt/slides/slide5.xml" Id="R3940595767e34c32" /><Relationship Type="http://schemas.openxmlformats.org/officeDocument/2006/relationships/slide" Target="/ppt/slides/slide6.xml" Id="R8d8e2c4ff94642ca" /><Relationship Type="http://schemas.openxmlformats.org/officeDocument/2006/relationships/slide" Target="/ppt/slides/slide7.xml" Id="Re5aa4b6ba5934103" /><Relationship Type="http://schemas.openxmlformats.org/officeDocument/2006/relationships/slide" Target="/ppt/slides/slide8.xml" Id="R5e99bf8f00564b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4a2508bdc0d4c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e216003e85498d" /><Relationship Type="http://schemas.openxmlformats.org/officeDocument/2006/relationships/notesMaster" Target="/ppt/notesMasters/notesMaster1.xml" Id="R0244895f98c54d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fa7c27c53d4bd8" /><Relationship Type="http://schemas.openxmlformats.org/officeDocument/2006/relationships/notesMaster" Target="/ppt/notesMasters/notesMaster1.xml" Id="R38ed22bb4d3442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acab13333241e2" /><Relationship Type="http://schemas.openxmlformats.org/officeDocument/2006/relationships/notesMaster" Target="/ppt/notesMasters/notesMaster1.xml" Id="R1d195eb34d774b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e3f23e6b19494b" /><Relationship Type="http://schemas.openxmlformats.org/officeDocument/2006/relationships/notesMaster" Target="/ppt/notesMasters/notesMaster1.xml" Id="R72e2b99822b24e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fc914a805e465c" /><Relationship Type="http://schemas.openxmlformats.org/officeDocument/2006/relationships/notesMaster" Target="/ppt/notesMasters/notesMaster1.xml" Id="Rbd230a6ccaed47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9e1841763c45e9" /><Relationship Type="http://schemas.openxmlformats.org/officeDocument/2006/relationships/notesMaster" Target="/ppt/notesMasters/notesMaster1.xml" Id="R3f6d3fb559394c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117c7cb1464497" /><Relationship Type="http://schemas.openxmlformats.org/officeDocument/2006/relationships/notesMaster" Target="/ppt/notesMasters/notesMaster1.xml" Id="R6d2598015dc648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5e2546730a463c" /><Relationship Type="http://schemas.openxmlformats.org/officeDocument/2006/relationships/notesMaster" Target="/ppt/notesMasters/notesMaster1.xml" Id="Rf6ab8f61b4794a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380a2c8b64ae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b0e33f9c01a4269" /><Relationship Type="http://schemas.openxmlformats.org/officeDocument/2006/relationships/slideLayout" Target="/ppt/slideLayouts/slideLayout2.xml" Id="Raa310e14d4ad4c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310e14d4ad4c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5412afdb344f14" /><Relationship Type="http://schemas.openxmlformats.org/officeDocument/2006/relationships/notesSlide" Target="/ppt/notesSlides/notesSlide1.xml" Id="R834024c291a44c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a6439f421b4fbe" /><Relationship Type="http://schemas.openxmlformats.org/officeDocument/2006/relationships/notesSlide" Target="/ppt/notesSlides/notesSlide2.xml" Id="R5ab3fe592d5149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892e25e6854ded" /><Relationship Type="http://schemas.openxmlformats.org/officeDocument/2006/relationships/notesSlide" Target="/ppt/notesSlides/notesSlide3.xml" Id="R0911c71264174c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47633f47aa4684" /><Relationship Type="http://schemas.openxmlformats.org/officeDocument/2006/relationships/notesSlide" Target="/ppt/notesSlides/notesSlide4.xml" Id="R2da7fc052c0b45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d21513fa4c464a" /><Relationship Type="http://schemas.openxmlformats.org/officeDocument/2006/relationships/image" Target="/ppt/media/image.jpeg" Id="Ra7490a554d334392" /><Relationship Type="http://schemas.openxmlformats.org/officeDocument/2006/relationships/notesSlide" Target="/ppt/notesSlides/notesSlide5.xml" Id="R30d15ec89aa545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eb3779bd5c4e91" /><Relationship Type="http://schemas.openxmlformats.org/officeDocument/2006/relationships/notesSlide" Target="/ppt/notesSlides/notesSlide6.xml" Id="Ra2e9be31789546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1b72e8225e49bd" /><Relationship Type="http://schemas.openxmlformats.org/officeDocument/2006/relationships/notesSlide" Target="/ppt/notesSlides/notesSlide7.xml" Id="Rf93d6ac6bbbd44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7fb49f60f74229" /><Relationship Type="http://schemas.openxmlformats.org/officeDocument/2006/relationships/notesSlide" Target="/ppt/notesSlides/notesSlide8.xml" Id="Re7fae9e6b021427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D7BC46-5DE7-447E-85F6-AF498544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4397D-D227-45A8-BE08-065783F4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E8F31-5982-4738-A765-1FA0A92F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6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4E186-0F42-4178-970F-CE77A6CB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62000"/>
            <a:ext cx="3905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4288">
            <a:solidFill>
              <a:srgbClr val="B2CC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8DD74-325A-4D18-B323-4FF4109A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D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BD3FF"/>
                </a:solidFill>
                <a:latin typeface="Aptos"/>
                <a:ea typeface="Aptos"/>
                <a:cs typeface="Aptos"/>
              </a:rPr>
              <a:t>PROSPECT 26-001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E73D1-0036-4BFF-85DC-FA36CD55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571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Proxmox SDN/BGP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661AD-7AF5-489E-8E04-48F122B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42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Submission plan for controlled discovery, design, implementation, validation, and handoff.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EE0CA-E0B2-4484-ACCD-9551B981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2143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1CD9D-8F41-4D65-8C0B-6EFA9ABB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67075"/>
            <a:ext cx="2143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Estimated effort: 13-29 hours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9553E-E3D9-4599-9AF5-A071FF3D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0400"/>
            <a:ext cx="2428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27A03-21FA-4F59-B565-65A01767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67075"/>
            <a:ext cx="2428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Typical timeline: 2-4 working 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BC729-6A47-4B87-B5B8-501E59D8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D3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BD3FF"/>
                </a:solidFill>
                <a:latin typeface="Aptos"/>
                <a:ea typeface="Aptos"/>
                <a:cs typeface="Aptos"/>
              </a:rPr>
              <a:t>Core stance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516BE-5791-4153-8F09-3D71D9B3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533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Treat this as production network engineering: discovery and approval first, then staged change, validation, rollback, and documentation.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6930F-29E7-4940-A53E-476D47E7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668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5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7E36F-0822-4353-9990-393BA333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7157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F645A-AE19-4C29-9EDD-73E5F1D0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049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Discovery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82E44-F458-4005-8653-42BE98B1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001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Topology, access, versions, route 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CEF4B-244C-4F1F-BDA7-997E08FF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1690F-FE51-4F20-ACCB-2BA83916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977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567B5-F9DF-413D-A7EE-F84341BA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431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7B4B6-A9B2-4ACF-87C9-33468BA6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SDN/BGP architecture and rollback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8E8518-834A-4877-A4ED-24F7CA40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5D5C21-1DC6-4DAC-A438-9FD51717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4797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ED5E37-80ED-43EA-8047-B7B33793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Implement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048E70-188D-4D8C-815E-2DCA7281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765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Proxmox SDN, BGP/EVPN, route filters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E46342-D0C7-4D2B-87DA-ED0399D4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814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5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7DF0AD-FA59-4CA8-A55F-C5BF6829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8617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DAD314-ADC6-4DA5-9F34-42EEC716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0C25E0-56E5-4070-B834-BB236992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147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Peers, prefixes, workloads, logs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33D64F-7334-455A-9810-4E4E8C70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196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186B71-2280-45B2-AE36-FB69B823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2437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A48A3B-0216-4C12-8402-EB0C821E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AAC9A3-80A4-4FDA-AB06-BD99A179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529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Runbook, diagram, acceptance evidence</a:t>
            </a:r>
          </a:p>
        </p:txBody>
      </p:sp>
    </p:spTree>
    <p:extLst>
      <p:ext uri="{BB962C8B-B14F-4D97-AF65-F5344CB8AC3E}">
        <p14:creationId xmlns:p14="http://schemas.microsoft.com/office/powerpoint/2010/main" val="2751320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B8398F-491F-4DFA-A01D-95D14D4E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7BFF5-43B6-4EE2-8ED4-55DDED99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5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95B6F"/>
                </a:solidFill>
                <a:latin typeface="Aptos"/>
                <a:ea typeface="Aptos"/>
                <a:cs typeface="Aptos"/>
              </a:rPr>
              <a:t>DELIVERY STANCE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47E3C-1472-4719-93AC-DBA362FC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Why this should be handled as a controlled network 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15169-D0D3-4AD6-96D7-8A5B9DAA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value is not only making BGP come up. The value is avoiding route leaks, access loss, and undocumented production drift.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C3870-1997-46AF-8F3C-629C4D9D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F3615-FB0E-4CE2-99E8-87495603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5B6F"/>
          </a:solidFill>
          <a:ln xmlns:a="http://schemas.openxmlformats.org/drawingml/2006/main" w="14288">
            <a:solidFill>
              <a:srgbClr val="295B6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E393F-9083-4518-8DBF-0760B098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5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1FB6D-9820-442E-AE9C-782A8204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93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D0B66-D645-4E8F-B210-CD4D491F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Discover before changing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CDC64-DA69-4635-9EA3-A69A9F0E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14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5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3700A2-0D1D-4FF0-B392-4B573E29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2419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Confirm Proxmox versions, node count, uplinks, bridges, MTU, and current SDN state.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29E96-35CC-4C75-931C-9D5B8DA7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48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5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1F473-77CC-408B-91B0-8B10E7A3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2419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Inventory router/firewall platform, existing FRR or manual routing config, and access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128B9-04E3-4191-B331-75E66094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307B1-1BA1-4D66-AA00-2029AD7A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9"/>
          </a:solidFill>
          <a:ln xmlns:a="http://schemas.openxmlformats.org/drawingml/2006/main" w="14288">
            <a:solidFill>
              <a:srgbClr val="3F7D5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6B282-CE42-4D51-BA70-F3467E20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1526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4D068-87D9-44F4-850D-8877AFE1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2193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9F629-9879-4026-BEDE-1FB7D575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6098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Design the route 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F7AD6-6F41-49FD-851B-C34CDB50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14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BA623E-CE60-4D98-9728-7007C86F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448050"/>
            <a:ext cx="2419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Define ASN plan, peer addresses, route targets, VNIs, exit nodes, and accepted prefixes.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340A81-6953-4EF0-AD7F-3AE4E25D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448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182BC8-F854-42A1-B9B6-E4477AB1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381500"/>
            <a:ext cx="2419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Use explicit route filters and rollback steps before production changes.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D20C6F-F6FB-457E-B429-6F8C132B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143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6F6FCC-C982-45E5-B453-666FB2DD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14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5A31"/>
          </a:solidFill>
          <a:ln xmlns:a="http://schemas.openxmlformats.org/drawingml/2006/main" w="14288">
            <a:solidFill>
              <a:srgbClr val="BA5A3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8E7A4-BBD1-46A9-9CC5-4E19F16D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526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5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02725C-33D0-4D70-8B53-7900445F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1932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Phases 3-5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648F30-B496-4E39-A3CD-E74E96CC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98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Validate evidence, not hope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037C51-85F7-45AE-A896-6485CC57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14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5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4A2509-E380-48BF-B623-1B1379F9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48050"/>
            <a:ext cx="2419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Verify BGP sessions, advertised and received prefixes, guest connectivity, failover behavior, and logs.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E0245F-9EEF-48AB-AF27-D76B8241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48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5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0CCD4A-28C1-424E-9394-4D31D15B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81500"/>
            <a:ext cx="2419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Deliver final runbook, topology diagram, config notes, and acceptance criteria.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5911EF-FCD3-44BF-B1F2-26111194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0823BD-0782-44CC-9804-5711CA6F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Proxmox SDN/BGP Integration Proposal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8A9BC8-0EF3-4EBB-9D0C-4DBCBB82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667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46856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BB9DEC-88AB-484D-B756-603C2AE7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E0A4C-3030-4611-B7B6-8C49C9D9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5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95B6F"/>
                </a:solidFill>
                <a:latin typeface="Aptos"/>
                <a:ea typeface="Aptos"/>
                <a:cs typeface="Aptos"/>
              </a:rPr>
              <a:t>CLARIFICATION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61560-5A1E-410A-9727-186B80DB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client discussion should resolve these decision areas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D0FD3-D0D1-4602-B6EF-454F76D1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These map directly to section 1 of the submission plan and give us clean references for follow-up.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29C55-31D1-4E66-8709-48920253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93527-248F-4963-8BD6-FF988B89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1911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5B6F"/>
          </a:solidFill>
          <a:ln xmlns:a="http://schemas.openxmlformats.org/drawingml/2006/main" w="14288">
            <a:solidFill>
              <a:srgbClr val="295B6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E7C62-4573-42F2-9F2A-D4E1F46D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1000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95B6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95B6F"/>
                </a:solidFill>
                <a:latin typeface="Aptos"/>
                <a:ea typeface="Aptos"/>
                <a:cs typeface="Aptos"/>
              </a:rPr>
              <a:t>1.1-1.3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0C264-A084-4B08-9174-EFB66701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383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Environment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400D5-1066-47F6-A552-654D861D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5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DFE5D-4F36-4DE5-82B7-40F76631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432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Proxmox version and cluster shape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72977-233D-439B-B47B-55D45799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47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5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2A00E-5B40-4FD0-A767-8C7E46FB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432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Node count and interface roles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D0456-479C-4FBD-A19F-0C1E476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33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5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37315-9165-40F3-8E4E-D535AF1A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432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Plain BGP, EVPN/VXLAN, or both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3320E-4C9B-4055-B3B6-D436F3B3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83504-062E-4DDE-821B-3843C367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51911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9"/>
          </a:solidFill>
          <a:ln xmlns:a="http://schemas.openxmlformats.org/drawingml/2006/main" w="14288">
            <a:solidFill>
              <a:srgbClr val="3F7D5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AE422-4ABC-40A3-9A7F-7F69EB94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76450"/>
            <a:ext cx="1000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7D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F7D59"/>
                </a:solidFill>
                <a:latin typeface="Aptos"/>
                <a:ea typeface="Aptos"/>
                <a:cs typeface="Aptos"/>
              </a:rPr>
              <a:t>1.4-1.8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0768D-1583-41D9-9A47-02AFD532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383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Routing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062D7C-AD5C-425E-9731-367808D6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562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E8E418-AB6A-4746-892A-A44C5558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495550"/>
            <a:ext cx="432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Peer router/firewall platform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06C84-D2FF-43AF-A7AD-9AB5375B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847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584585-4B89-40FB-905C-45045450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781300"/>
            <a:ext cx="432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Private or public ASN/prefix scope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001F2-5C4D-4FC6-A1CA-3A3056C8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133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AC5B97-0A18-47AA-B0AA-CBD053E2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067050"/>
            <a:ext cx="432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Exit node and active/active behavior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E36BB2-C6A8-4E59-9F52-EA53CEB3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FFEBC8-C895-4AB5-8621-16A8FA52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51911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95"/>
          </a:solidFill>
          <a:ln xmlns:a="http://schemas.openxmlformats.org/drawingml/2006/main" w="14288">
            <a:solidFill>
              <a:srgbClr val="6B5B9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25A2E0-9147-4E04-9857-C1A874F8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1000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5B9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5B95"/>
                </a:solidFill>
                <a:latin typeface="Aptos"/>
                <a:ea typeface="Aptos"/>
                <a:cs typeface="Aptos"/>
              </a:rPr>
              <a:t>1.9-1.12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C92850-1564-4BC4-B207-CC041D29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243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Existing Controls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ADFF35-86C8-45B2-9453-9EE1EA2B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077559-BF48-4BFE-9B2E-5DC78C91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81550"/>
            <a:ext cx="432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Current FRR/router configs to preserve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687A79-62BF-4AC5-BA1A-9C70CA64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33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463B98-63E3-4D28-A9A2-A85043E9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67300"/>
            <a:ext cx="432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Firewall/security policy boundaries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86F7FA-7D85-4793-8C84-B6D1E1CF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84544F-1CA0-416E-8F87-4BE598B3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53050"/>
            <a:ext cx="432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Maintenance window and monitoring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7E45F8-5688-46EA-99CE-8FE6394F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95750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6F7EBE-214A-4445-BCFE-818BCB99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95750"/>
            <a:ext cx="51911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5A31"/>
          </a:solidFill>
          <a:ln xmlns:a="http://schemas.openxmlformats.org/drawingml/2006/main" w="14288">
            <a:solidFill>
              <a:srgbClr val="BA5A31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B8CDDE-E65B-4470-A0CA-7470AB77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362450"/>
            <a:ext cx="1000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A5A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A5A31"/>
                </a:solidFill>
                <a:latin typeface="Aptos"/>
                <a:ea typeface="Aptos"/>
                <a:cs typeface="Aptos"/>
              </a:rPr>
              <a:t>1.13-1.14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E90C93-4740-4800-BB64-7392CDA2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243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Delivery Model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57FEB6-A542-4889-A979-314864E9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848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5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5086EF-A522-42AF-951B-C5019D19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781550"/>
            <a:ext cx="432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VPN, bastion, and console access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3D4A6E-7FA6-49B4-B8B1-A5C0A21B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133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5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75DA55-9625-41FD-8FA7-A427C894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067300"/>
            <a:ext cx="432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Configuration-only or full runbook/diagram handoff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9F94A9-2DA0-429A-9A5E-8A75A54E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53E15E-38EA-4A4E-BDD8-0046773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Proxmox SDN/BGP Integration Proposal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173F46-6A03-4267-B1EC-27B46DF4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667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18615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866297-D3B3-4B11-A4E7-2A4BAA1B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61C55-428A-47DB-A4C9-0F0A6EA8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5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95B6F"/>
                </a:solidFill>
                <a:latin typeface="Aptos"/>
                <a:ea typeface="Aptos"/>
                <a:cs typeface="Aptos"/>
              </a:rPr>
              <a:t>REQUIREMENTS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D5BF8-77D1-42B9-BDEB-1CFC3652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Coverage across the technical surfaces that can break production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D98E8-9F97-4A8C-B5A2-83A4D26C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plan covers both Proxmox SDN mechanics and the routing/security controls around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B5B80-B5B2-4EC9-BC68-D5217ABA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1720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6FE83-12B0-4A0F-B657-E6509689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 Ref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CB19B-6685-4C56-AE16-33B5E173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2238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17203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723EE-0DFB-4BDC-A367-B1B6247C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43075"/>
            <a:ext cx="2009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Coverage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63783-C564-4943-AB10-F6F58BBB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619250"/>
            <a:ext cx="3952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17203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B6685-470E-4842-B94B-E56C9C38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743075"/>
            <a:ext cx="3724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We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9B319-E44F-49C7-9A73-F6783736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17203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D7AC7-A9A2-4A15-B001-87D3FF57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43075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Client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0A5AD-90BB-46FE-98B7-99197B5B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047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8D8F9-3398-4BDB-BDED-21DF480F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819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5B6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95B6F"/>
                </a:solidFill>
                <a:latin typeface="Aptos"/>
                <a:ea typeface="Aptos"/>
                <a:cs typeface="Aptos"/>
              </a:rPr>
              <a:t>4.1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6597D1-F7B1-4E62-9CF6-4ED3D18A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19300"/>
            <a:ext cx="2238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EDCA6-1149-4A0B-B246-48C3CCE5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52650"/>
            <a:ext cx="20097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Proxmox SDN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B7AD37-69D8-41B6-A9B0-425702E1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19300"/>
            <a:ext cx="3952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1B5FD-F19E-474E-A1DC-BA3DD66D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152650"/>
            <a:ext cx="37242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Cluster health, Linux bridges, bonds, VLAN-aware bridges, MTU, zones, VNets, subnets, IPAM.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105998-4BF9-4516-B823-3DF96A7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193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AB41CF-201A-4093-84D7-EEB005BD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526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Current-state notes and readiness findings.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68F22-C7A0-46BA-A260-71D6B221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47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DDF80-6E95-427D-A8A8-3983EB54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819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5B6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95B6F"/>
                </a:solidFill>
                <a:latin typeface="Aptos"/>
                <a:ea typeface="Aptos"/>
                <a:cs typeface="Aptos"/>
              </a:rPr>
              <a:t>4.2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57231-3D1C-4AC6-9AE1-8D7F9407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2238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502DD2-AF0D-42F0-B705-F37CD176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20097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BGP/EVPN Design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886E49-5AFF-4F9F-92F2-6148C237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724150"/>
            <a:ext cx="3952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19E75-BF83-4DB7-A6F4-8500BC37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857500"/>
            <a:ext cx="37242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ASNs, router IDs, peers, route targets, VNIs, import/export behavior, failover model.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3DCAD8-15A4-442E-9E97-636F6E9B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D2D877-B6CC-4D17-9FB3-2DCFA56B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Approved target design and route plan.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B7EBB0-BEA4-49BB-95FC-FED9C7D7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47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A76E10-E471-4FC2-8E33-26A37D39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819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5B6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95B6F"/>
                </a:solidFill>
                <a:latin typeface="Aptos"/>
                <a:ea typeface="Aptos"/>
                <a:cs typeface="Aptos"/>
              </a:rPr>
              <a:t>4.3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CCD954-F9AE-48C0-AEE5-CA8B13D8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2238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9F5689-FD72-4831-839D-D88AF104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2350"/>
            <a:ext cx="20097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Security Controls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5EEFF6-2B9D-469A-9339-480D0357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429000"/>
            <a:ext cx="3952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251BD9-0BD1-41AB-B921-B5256FC2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562350"/>
            <a:ext cx="37242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Management isolation, prefix filters, peer policy, firewall boundary review, public route guardrails.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C4DD09-6623-457C-A504-2EA579F3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290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DC39F8-EC4B-44F1-8A5C-EA583E7F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Explicit route/security policy decisions.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E57321-3A9C-4596-AC72-7A1C6755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1047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1BB6F5-8B60-40A6-A201-2735A92B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819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5B6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95B6F"/>
                </a:solidFill>
                <a:latin typeface="Aptos"/>
                <a:ea typeface="Aptos"/>
                <a:cs typeface="Aptos"/>
              </a:rPr>
              <a:t>4.4-4.5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A2D7D6-E9CC-4BF5-8439-6D081EF1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33850"/>
            <a:ext cx="2238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A2ACE9-6F9F-4085-B452-CF5D7640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267200"/>
            <a:ext cx="20097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Implement + Validate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763C53-7B83-4102-B70A-984DD4A8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133850"/>
            <a:ext cx="3952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F3F593-5B4D-47F0-A952-77043D66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267200"/>
            <a:ext cx="37242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Backups, staged config, upstream coordination, BGP state, prefixes, workload traffic, logs.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6AB07E-E022-47FA-98AD-FFBB4280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38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95C075-9E7E-4456-9FAE-A66ECFE6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6720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Validation checklist and test results.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D9337F-7D8A-4708-85D6-70648368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1047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9358D9-99E0-40B4-B3B5-919D97DD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819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95B6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95B6F"/>
                </a:solidFill>
                <a:latin typeface="Aptos"/>
                <a:ea typeface="Aptos"/>
                <a:cs typeface="Aptos"/>
              </a:rPr>
              <a:t>4.6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3561A3-804E-460B-BB04-3D4F54DF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38700"/>
            <a:ext cx="2238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E920BA-B338-46A6-8CE2-3F6CA792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972050"/>
            <a:ext cx="20097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Documentation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C84B7F-38D5-47F6-92FA-A731F9D7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838700"/>
            <a:ext cx="3952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70B72F-A352-4D54-820C-3F99592B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972050"/>
            <a:ext cx="37242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Final-state diagram, key configs, validation commands, rollback, maintenance notes.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55E18B-9C3B-4F81-91DF-B022E0AA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387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196FF2-9576-4DAC-989B-0E41083E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291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Runbook and handoff package.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6D2DBE-10B6-433D-A0EB-0A05509A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6F92BF-1DE6-45EA-A0CF-704283E2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Proxmox SDN/BGP Integration Proposal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EA7021-6712-430F-97F3-4076220A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667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11707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B7F848-7A11-4EF4-A600-5D95CB6E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5CE5F-D8F8-42F1-92C1-1BDB8FF6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5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95B6F"/>
                </a:solidFill>
                <a:latin typeface="Aptos"/>
                <a:ea typeface="Aptos"/>
                <a:cs typeface="Aptos"/>
              </a:rPr>
              <a:t>WORK PHASES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2FB25-0C7C-4C55-A3F3-C5AAA8F4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Execution flow with level of effort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FD90E-3F27-4031-B2B1-1E805C58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flow chart turns the proposal into a simple client-call discussion path.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90a554d334392"/>
          <a:stretch xmlns:a="http://schemas.openxmlformats.org/drawingml/2006/main"/>
        </p:blipFill>
        <p:spPr>
          <a:xfrm xmlns:a="http://schemas.openxmlformats.org/drawingml/2006/main">
            <a:off x="2217964" y="1600200"/>
            <a:ext cx="7756071" cy="4524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43E69-5B92-4B92-A7B4-27902EE1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762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Reference: Work phases from section 5, timeline from section 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0051C-6BFB-4684-9EF1-EECF2E30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24FC1-04A6-4CD3-A079-57198921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Proxmox SDN/BGP Integration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8FF03-6DE4-4BED-A6F3-F63C7FD0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667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97548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7705C0-79E7-4C05-B4FF-C0F3C73E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4C460-2636-4A4C-A6B5-3D1FB283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5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95B6F"/>
                </a:solidFill>
                <a:latin typeface="Aptos"/>
                <a:ea typeface="Aptos"/>
                <a:cs typeface="Aptos"/>
              </a:rPr>
              <a:t>PHASE DETAIL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94FFD-923D-48F3-81F7-2F71076B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Level of effort is concentrated where routing risk is highest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77BB2-CE7C-424D-93DE-DCD2B84E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Configuration effort varies by cluster size, router complexity, and whether the client needs plain BGP or EVPN/VXLAN.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2662E-8F07-45FB-857A-BEC40677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1720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85F19-8D45-4719-98C7-6F0ADFC9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A7FDA-6F7D-4A4A-8F18-0F1F1A0A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71625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17203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8C7A7-EA85-4344-A14E-64E232CB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9545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0EC42-2E59-4ACC-A1C7-6FF2D70D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17203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42755-A1D9-46E0-B35E-E78820F1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954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Effort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12742-B0AA-4280-9FF0-AD98FB97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71625"/>
            <a:ext cx="542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17203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152FE-FFFD-48CE-8062-737122C1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95450"/>
            <a:ext cx="520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Primary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FC0B8-4E24-4E36-91B4-663509FD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85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D8B8C-1D90-4469-B781-FC13C8E8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95B6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95B6F"/>
                </a:solidFill>
                <a:latin typeface="Aptos"/>
                <a:ea typeface="Aptos"/>
                <a:cs typeface="Aptos"/>
              </a:rPr>
              <a:t>5.1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41374-3FEC-4D4E-9F3F-501EC779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71675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C96AF-5D17-4039-8323-ABF5D7EB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43125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Discovery and Access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F4299-C37F-4FFF-9346-F8AD3867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71675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3EE1D5-1F92-42EC-9DE4-E2FEE42C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526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5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CC6BEC-D679-4E86-A4B7-F73387F1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19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2-4 hrs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730260-336C-4DA8-9094-D4F33E1B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71675"/>
            <a:ext cx="542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8EDA49-FCFE-4EC3-9499-C045C4C4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33600"/>
            <a:ext cx="516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Access, topology, versions, risk notes, missing information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AE98B6-6499-41D6-A761-ECF52885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85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E504F6-81AF-4058-955B-82D1AD85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7D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F7D59"/>
                </a:solidFill>
                <a:latin typeface="Aptos"/>
                <a:ea typeface="Aptos"/>
                <a:cs typeface="Aptos"/>
              </a:rPr>
              <a:t>5.2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029BD-84B0-4216-A6C4-E1298F94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19375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6CB1CE-4FFB-425F-BFD3-8E6188FD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90825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Architecture and Change 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2832C0-6E92-4578-B7FD-79BA751B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19375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E4E794-CA65-4AFF-AED7-1589DCC6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CFD4D7-203C-4F82-A64C-DD022F4D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670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3-6 hrs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B01907-4627-4738-BD9E-0BAABE33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19375"/>
            <a:ext cx="542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C109BB-AA7D-4932-BA77-C99ACD68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81300"/>
            <a:ext cx="516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Target design, route policy, change sequence, rollback, validation plan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82F2CC-D567-4D30-A2B8-4918C4D9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85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5A0C5F-8426-43F6-A44B-266C8A80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5B9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5B95"/>
                </a:solidFill>
                <a:latin typeface="Aptos"/>
                <a:ea typeface="Aptos"/>
                <a:cs typeface="Aptos"/>
              </a:rPr>
              <a:t>5.3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528C9B-3774-4436-9772-A715BF9B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67075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DEDC58-EF92-4F66-B9D8-62216533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38525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Configuration and Integration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925CE1-638A-4925-A197-8DDD6D65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67075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38B7ED-0553-4671-86F0-95A0A059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480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3C3BC8-6D85-41BA-A614-0CF78078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147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4-10 hrs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86BAA6-7A26-449C-9947-4ACCDCE2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67075"/>
            <a:ext cx="542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C2B8D0-6EED-49B5-8947-DFB90333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516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Proxmox SDN, BGP/EVPN peers, upstream coordination, route filters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F92BF7-C195-4508-A327-38B1BFE6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85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BF181D-4ED7-4F8F-B4F1-4FC0129E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A5A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A5A31"/>
                </a:solidFill>
                <a:latin typeface="Aptos"/>
                <a:ea typeface="Aptos"/>
                <a:cs typeface="Aptos"/>
              </a:rPr>
              <a:t>5.4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0670A4-6E08-4000-A919-2ACB1B0E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14775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79CA77-5184-4689-972E-D4113814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86225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Testing and Stabilization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4329B8-FB72-4585-9DC5-76F75B96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14775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6943D8-6F6F-437D-A243-0F6E81A0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957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5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477576-E5F0-4E2E-B136-BD068647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624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2-5 hrs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CE4EFC-DE49-4E2A-83A4-0E1944F9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14775"/>
            <a:ext cx="542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9F8BA9-AFF1-4ECA-8E86-EB2EC8F5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76700"/>
            <a:ext cx="516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Peer state, route advertisements, workload traffic, failover/log checks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347C02-805D-47AA-8E60-7EA39B23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85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B4958A-3486-4C48-82BC-F6D8009A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72025"/>
            <a:ext cx="590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4F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4F4F"/>
                </a:solidFill>
                <a:latin typeface="Aptos"/>
                <a:ea typeface="Aptos"/>
                <a:cs typeface="Aptos"/>
              </a:rPr>
              <a:t>5.5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6FA8D6-6811-488C-A429-6D3C628F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62475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EF2467-91A0-403F-8784-A25163B3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33925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7"/>
                </a:solidFill>
                <a:latin typeface="Aptos"/>
                <a:ea typeface="Aptos"/>
                <a:cs typeface="Aptos"/>
              </a:rPr>
              <a:t>Final Documentation and Handoff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3DADAD-9C0A-4BAA-9DFC-5049A0E8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62475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997253-24AD-42AD-BBD6-9401FAB6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434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4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80CC44-89DD-46CA-B4A7-105C71E8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101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2-4 hrs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229D77A-3456-4FC0-AA48-74D0D7A8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62475"/>
            <a:ext cx="542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926935-7BBF-4189-879C-BCA7D07D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24400"/>
            <a:ext cx="516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Runbook, topology diagram, config summary, validation evidence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33F46A-166D-436B-9EBF-6B890732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14288">
            <a:solidFill>
              <a:srgbClr val="B2CC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BB7D89-BE7D-4463-9440-653ADEDC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Total estimated effort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66E10B5-6B28-4A83-8C54-2FE21159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5B6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95B6F"/>
                </a:solidFill>
                <a:latin typeface="Aptos Display"/>
                <a:ea typeface="Aptos Display"/>
                <a:cs typeface="Aptos Display"/>
              </a:rPr>
              <a:t>13-29 hours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547E17A-E8B2-4895-A9AA-ACBFC7B4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5626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4288">
            <a:solidFill>
              <a:srgbClr val="FED7A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5E4B9E0-9856-4348-BFB1-74832BBC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7340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Phase gate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99AB6C5-09BD-4BFA-8ED1-8816506A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245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Client approval required after design before production changes.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FA9CDA-4402-4495-9546-963BA053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9C1B29B-06FD-49E5-81D6-F3579EE5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Proxmox SDN/BGP Integration Proposal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2E6DEA5-B1D0-4A89-9FC9-C39FD8D0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667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24864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3325F3-F405-42E3-B1D6-28A455B9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FB0F6-B48D-4019-9B1C-391DE132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5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95B6F"/>
                </a:solidFill>
                <a:latin typeface="Aptos"/>
                <a:ea typeface="Aptos"/>
                <a:cs typeface="Aptos"/>
              </a:rPr>
              <a:t>RISK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2608F-0A74-4FBD-98A0-945AD5E4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plan is built to prevent the common failure modes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3AC6D-DA8B-4563-A4F2-02C9B871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These risks are not theoretical in routing work, so the proposal makes them explicit before implementation.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DB51A-0CF9-4B04-82C9-97867714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3143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28651-564B-4D02-9F06-A685F02D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853"/>
          </a:solidFill>
          <a:ln xmlns:a="http://schemas.openxmlformats.org/drawingml/2006/main" w="14288">
            <a:solidFill>
              <a:srgbClr val="D6685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B7191-BD42-48D5-8451-75BAA22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685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6853"/>
                </a:solidFill>
                <a:latin typeface="Aptos"/>
                <a:ea typeface="Aptos"/>
                <a:cs typeface="Aptos"/>
              </a:rPr>
              <a:t>9.1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CD0E3-54FC-463B-A09F-FBE1D530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716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Route leaks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7589A-5179-4068-9B02-92501E00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15890-E669-4DF7-BEF5-803E2BDD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2419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Explicit prefix filters, peer policy, and pre-approved route lists.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B5EA2-B469-4C20-8382-1ED6C0A0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14500"/>
            <a:ext cx="3143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C1AC6-613A-42C6-8C08-0BF9AD20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145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5A31"/>
          </a:solidFill>
          <a:ln xmlns:a="http://schemas.openxmlformats.org/drawingml/2006/main" w="14288">
            <a:solidFill>
              <a:srgbClr val="BA5A3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1EF7F-E107-4350-8F84-8A9B40C1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A5A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A5A31"/>
                </a:solidFill>
                <a:latin typeface="Aptos"/>
                <a:ea typeface="Aptos"/>
                <a:cs typeface="Aptos"/>
              </a:rPr>
              <a:t>9.2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CCFB5-3578-409E-9181-D606CD6A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9716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Access loss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05566-A244-44A6-B462-6BDF1583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00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5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FA60A-C548-4EBD-8964-0B5BB5DA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33650"/>
            <a:ext cx="2419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Console or out-of-band path, staged changes, and rollback commands.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DE1B1-516B-4FD1-A6A9-0C3ABEA5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143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ECBB7-D7EA-49F8-BD5C-58F40948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5"/>
          </a:solidFill>
          <a:ln xmlns:a="http://schemas.openxmlformats.org/drawingml/2006/main" w="14288">
            <a:solidFill>
              <a:srgbClr val="D89B3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24354-51AB-4F41-86A0-12AB8A8C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9B3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9B35"/>
                </a:solidFill>
                <a:latin typeface="Aptos"/>
                <a:ea typeface="Aptos"/>
                <a:cs typeface="Aptos"/>
              </a:rPr>
              <a:t>9.3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A2CAB-B821-4BCB-88A0-E3A7DBEC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716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MTU mismatch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E933F-2D1F-47AD-9383-7A927946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0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7F7C02-C257-44C6-863A-E4BC44B5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2419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Review physical, bridge, VNet, VXLAN, and guest MTU before rollout.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0EAE6-438C-4AA1-BADA-BB3CB029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48125"/>
            <a:ext cx="3143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1CE3A7-7B13-447A-B7D3-AC22AE8E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48125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95"/>
          </a:solidFill>
          <a:ln xmlns:a="http://schemas.openxmlformats.org/drawingml/2006/main" w="14288">
            <a:solidFill>
              <a:srgbClr val="6B5B9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FD47DC-E8F5-4027-91DC-0581A2D4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338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5B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5B95"/>
                </a:solidFill>
                <a:latin typeface="Aptos"/>
                <a:ea typeface="Aptos"/>
                <a:cs typeface="Aptos"/>
              </a:rPr>
              <a:t>9.4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DF88C9-FF76-4F14-82B9-8DF6A306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05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Config conflict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2F524F-2917-4CAC-9F8C-65E044EA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33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B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5B5E1D-2F23-467E-8157-307BC2F6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67275"/>
            <a:ext cx="2419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Decide whether Proxmox SDN or manual FRR owns each routing function.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64BE3D-8636-406D-A1D6-28DA4AD0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048125"/>
            <a:ext cx="3143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CB4E37-F7D3-4217-9ACC-8B7C39EC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048125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9"/>
          </a:solidFill>
          <a:ln xmlns:a="http://schemas.openxmlformats.org/drawingml/2006/main" w="14288">
            <a:solidFill>
              <a:srgbClr val="3F7D5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43CCDD-5366-4406-A428-384703F8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338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7D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F7D59"/>
                </a:solidFill>
                <a:latin typeface="Aptos"/>
                <a:ea typeface="Aptos"/>
                <a:cs typeface="Aptos"/>
              </a:rPr>
              <a:t>9.5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61FF72-FB0F-4BFA-B28E-78F76F20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305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Asymmetric traffic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D766F2-0D7C-4B32-A92F-DFB16F24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933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DF8F82-327C-4AEB-9270-B5A3FA83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867275"/>
            <a:ext cx="2419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Define exit-node policy, route preference, and test traffic paths.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D9C097-5B3A-4B46-B304-E43E27FC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19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4288">
            <a:solidFill>
              <a:srgbClr val="ABEFC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145D3F-1EF4-40C3-A278-4D6F4292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67425"/>
            <a:ext cx="962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Proposal guardrail: do not accept production implementation without discovery, route scope, access model, rollback, and maintenance window.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909158-A99B-42E9-A369-99AF3F32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79F26D-5A84-45B9-AE0F-94FFDF70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Proxmox SDN/BGP Integration Proposal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1E81F5-6ACB-4F14-AA2F-C91660ED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667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263210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172548-CFF5-4F82-B9FC-C8D533E9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EA497-5AD1-44DB-A7D4-E71137A1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95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95B6F"/>
                </a:solidFill>
                <a:latin typeface="Aptos"/>
                <a:ea typeface="Aptos"/>
                <a:cs typeface="Aptos"/>
              </a:rPr>
              <a:t>MILESTONES AND ACCEPTANCE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E369B-6333-4AF6-900D-7983A22F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0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 clean close gives the client a way to approve the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A9FA2-9D74-434E-A8B5-6E834797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strongest submission is a bounded project with objective acceptance criteria.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1A518-CAD3-4B7E-BEF8-8877A6C9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713A6-1BA2-44D7-8F19-0E9EAB08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5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2B532-E60A-4036-94E9-7E1FC09F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05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4C77C-8785-4362-8283-D408B569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Discovery and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7FEC7-1497-4AA0-95F7-E7C6E01D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71825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Current-state review, target architecture, implementation plan, rollback plan.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85DFD-50DA-4876-8724-C665435A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335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857E1-1BA5-4EF8-A429-82B9D875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5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8B0E0-DC50-482C-B533-5DE00253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05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11.2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A2408-772B-4152-9028-A0D0BEB5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Implementation and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9785B-AD23-4D62-9C70-ED592BAB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71825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Configured SDN/BGP integration, route exchange, connectivity validation.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BC441-D4E5-46E3-9F77-07B512CF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DD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A7CD2-D3AE-497F-B1EF-CA009345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B247AD-B59B-445F-A520-69C8B39D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050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11.3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A04AE-6153-4787-B685-0F7EE91F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Documentation and Handoff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91CD6-F7AC-4AD9-B7D7-92ED2CFA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71825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Runbook, topology diagram, config summary, maintenance instructions.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FDD50F-C0E9-4EC5-BD66-C2C15A5E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990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4288">
            <a:solidFill>
              <a:srgbClr val="17203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F0FFA1-9A80-4C76-9C9C-DA488512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14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Acceptance criteria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9E2E7A-BEA4-49D0-93AF-1F546814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9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DDA3D-14B4-4BEC-A8B7-2092A963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Stable BGP peers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0827CF-2797-4EA6-8A40-0DE329C1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019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8D715E-83B9-4567-B4BF-A7A8502D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53000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Approved SDN prefixes advertised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4A8D03-249E-48DB-A926-536A3DC6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19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11F0EF-D221-4FA5-8089-B947C873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53000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Unapproved prefixes blocked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CC2F7D-59F4-4C6B-9F88-2971640E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43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FAE5E2-759A-4CF0-B1D7-0DCC423C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76850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VM/LXC connectivity confirmed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4007DB-4FB3-4AB9-AE88-857FE753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343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16193D-6109-4ADB-9548-F00D4844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76850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Management/storage/migration isolated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7B3AFA-F53B-49BF-AAB3-1ADB8E7C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43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22E22D-20F4-44EB-B6DD-B7DD82B1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76850"/>
            <a:ext cx="251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Runbook delivered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C1963C-5F1E-4753-90FC-DFDB798F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53125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Recommended next action: send the clarification questions first, then price discovery/design as Milestone 1 before committing to production implementation.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0251A8-A001-494B-AF00-280FBEE1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08F1D5-8A59-425B-BE7C-288B331E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Proxmox SDN/BGP Integration Proposal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AF7AAD-F1B1-4555-87C5-F59A26E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667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45478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2026-06-01T00:30:16.4540000Z</dcterms:created>
  <dcterms:modified xsi:type="dcterms:W3CDTF">2026-06-01T00:30:16.4540000Z</dcterms:modified>
</coreProperties>
</file>